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C1C1E">
              <a:alpha val="65000"/>
            </a:srgbClr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06240" y="0"/>
            <a:ext cx="914400" cy="51435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1371600"/>
            <a:ext cx="20117" cy="2194560"/>
          </a:xfrm>
          <a:prstGeom prst="rect">
            <a:avLst/>
          </a:prstGeom>
          <a:solidFill>
            <a:srgbClr val="7D9B8A"/>
          </a:solidFill>
          <a:ln w="12700">
            <a:solidFill>
              <a:srgbClr val="7D9B8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132588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Серверное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программное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обеспечение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49808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Виды, установка и обслуживание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0" y="47731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IT-инфраструктура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114300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серверное ПО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43000" y="1618488"/>
            <a:ext cx="740664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928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89280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Виды серверного ПО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43000" y="2368296"/>
            <a:ext cx="740664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4261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642616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Установка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143000" y="3118104"/>
            <a:ext cx="740664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924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392424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Обслуживание и мониторинг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43000" y="3867912"/>
            <a:ext cx="740664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4223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4142232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Лучшие практики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такое серверное ПО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Серверное ПО обрабатывает запросы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клиентов, управляет ресурсами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предоставляет услуги в сетях.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143000"/>
            <a:ext cx="374904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143000"/>
            <a:ext cx="3749040" cy="2103120"/>
          </a:xfrm>
          <a:prstGeom prst="rect">
            <a:avLst/>
          </a:prstGeom>
          <a:solidFill>
            <a:srgbClr val="F7F6F4">
              <a:alpha val="15000"/>
            </a:srgbClr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60604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606040"/>
            <a:ext cx="2606040" cy="22860"/>
          </a:xfrm>
          <a:prstGeom prst="rect">
            <a:avLst/>
          </a:prstGeom>
          <a:solidFill>
            <a:srgbClr val="8195A8"/>
          </a:solidFill>
          <a:ln w="12700">
            <a:solidFill>
              <a:srgbClr val="8195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Клиент-серверная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архитектура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3383280"/>
            <a:ext cx="219456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49300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сервер — множество клиентов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260604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2606040"/>
            <a:ext cx="2606040" cy="22860"/>
          </a:xfrm>
          <a:prstGeom prst="rect">
            <a:avLst/>
          </a:prstGeom>
          <a:solidFill>
            <a:srgbClr val="7D9B8A"/>
          </a:solidFill>
          <a:ln w="12700">
            <a:solidFill>
              <a:srgbClr val="7D9B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Непрерывная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работа 24/7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566160" y="3383280"/>
            <a:ext cx="219456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349300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Стабильность и отказоустойчивость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2606040"/>
            <a:ext cx="26060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0" y="2606040"/>
            <a:ext cx="2606040" cy="22860"/>
          </a:xfrm>
          <a:prstGeom prst="rect">
            <a:avLst/>
          </a:prstGeom>
          <a:solidFill>
            <a:srgbClr val="B8A898"/>
          </a:solidFill>
          <a:ln w="12700">
            <a:solidFill>
              <a:srgbClr val="B8A89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Управление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ресурсами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0" y="3383280"/>
            <a:ext cx="219456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493008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сеть, дисковое пространство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Виды серверного ПО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2860" cy="1572768"/>
          </a:xfrm>
          <a:prstGeom prst="rect">
            <a:avLst/>
          </a:prstGeom>
          <a:solidFill>
            <a:srgbClr val="8195A8"/>
          </a:solidFill>
          <a:ln w="12700">
            <a:solidFill>
              <a:srgbClr val="8195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727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Веб-серверы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· Nginx · IIS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73552" y="137160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371600"/>
            <a:ext cx="22860" cy="1572768"/>
          </a:xfrm>
          <a:prstGeom prst="rect">
            <a:avLst/>
          </a:prstGeom>
          <a:solidFill>
            <a:srgbClr val="7D9B8A"/>
          </a:solidFill>
          <a:ln w="12700">
            <a:solidFill>
              <a:srgbClr val="7D9B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5727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Серверы БД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20299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PostgreSQL · MSSQL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37160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9904" y="1371600"/>
            <a:ext cx="22860" cy="1572768"/>
          </a:xfrm>
          <a:prstGeom prst="rect">
            <a:avLst/>
          </a:prstGeom>
          <a:solidFill>
            <a:srgbClr val="B8A898"/>
          </a:solidFill>
          <a:ln w="12700">
            <a:solidFill>
              <a:srgbClr val="B8A8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57276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Файловые серверы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20299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Samba · NFS · FTP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54680"/>
            <a:ext cx="22860" cy="1572768"/>
          </a:xfrm>
          <a:prstGeom prst="rect">
            <a:avLst/>
          </a:prstGeom>
          <a:solidFill>
            <a:srgbClr val="9E9790"/>
          </a:solidFill>
          <a:ln w="12700">
            <a:solidFill>
              <a:srgbClr val="9E97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558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Почтовые серверы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8130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Postfix · Exchange · Sendmail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73552" y="31546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73552" y="3154680"/>
            <a:ext cx="22860" cy="1572768"/>
          </a:xfrm>
          <a:prstGeom prst="rect">
            <a:avLst/>
          </a:prstGeom>
          <a:solidFill>
            <a:srgbClr val="8195A8"/>
          </a:solidFill>
          <a:ln w="12700">
            <a:solidFill>
              <a:srgbClr val="819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33558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DNS / DHCP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56432" y="38130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· Windows DNS · ISC DHCP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9904" y="31546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9904" y="3154680"/>
            <a:ext cx="22860" cy="1572768"/>
          </a:xfrm>
          <a:prstGeom prst="rect">
            <a:avLst/>
          </a:prstGeom>
          <a:solidFill>
            <a:srgbClr val="7D9B8A"/>
          </a:solidFill>
          <a:ln w="12700">
            <a:solidFill>
              <a:srgbClr val="7D9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335584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Серверы приложений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381304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· JBoss · Node.js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1E">
              <a:alpha val="55000"/>
            </a:srgbClr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1645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914400" y="1371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Веб-серверы и серверы баз данных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914400"/>
            <a:ext cx="8046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987552"/>
            <a:ext cx="38862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987552"/>
            <a:ext cx="3886200" cy="22860"/>
          </a:xfrm>
          <a:prstGeom prst="rect">
            <a:avLst/>
          </a:prstGeom>
          <a:solidFill>
            <a:srgbClr val="8195A8"/>
          </a:solidFill>
          <a:ln w="12700">
            <a:solidFill>
              <a:srgbClr val="8195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0698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Веб-серверы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15361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18105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Модульная архитектура, самый распространённый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" y="2176272"/>
            <a:ext cx="3474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29514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Nginx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" y="25694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нагрузка, обратный прокси-сервер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" y="2935224"/>
            <a:ext cx="3474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0540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8368" y="332841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Windows Server и .NET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58368" y="3694176"/>
            <a:ext cx="3474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8130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Caddy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368" y="40873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Авто-HTTPS, простая конфигурация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00600" y="987552"/>
            <a:ext cx="388620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00600" y="987552"/>
            <a:ext cx="3886200" cy="22860"/>
          </a:xfrm>
          <a:prstGeom prst="rect">
            <a:avLst/>
          </a:prstGeom>
          <a:solidFill>
            <a:srgbClr val="7D9B8A"/>
          </a:solidFill>
          <a:ln w="12700">
            <a:solidFill>
              <a:srgbClr val="7D9B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10698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Серверы баз данных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83480" y="1536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/ MariaDB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83480" y="18105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Популярная СУБД для веб-приложений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983480" y="2176272"/>
            <a:ext cx="3474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22951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983480" y="25694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Мощная открытая реляционная СУБД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983480" y="2935224"/>
            <a:ext cx="3474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30540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MSSQL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983480" y="332841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решения для Windows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983480" y="3694176"/>
            <a:ext cx="3474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83480" y="3813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983480" y="408736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Документо-ориентированная NoSQL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Установка серверного ПО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371600"/>
            <a:ext cx="356616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0" y="1371600"/>
            <a:ext cx="3566160" cy="3474720"/>
          </a:xfrm>
          <a:prstGeom prst="rect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4300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Планирование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108960" y="13716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ОС, RAM, CPU, хранилище. Ubuntu Server, CentOS, Windows Server.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143000" y="1965960"/>
            <a:ext cx="384048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1031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3000" y="2103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Подготовка среды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108960" y="21031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ОС, hostname, firewall, создание пользователей.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143000" y="2697480"/>
            <a:ext cx="384048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4300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Установка пакетов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108960" y="283464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/ yum для Linux, MSI / exe для Windows + зависимости.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143000" y="3429000"/>
            <a:ext cx="384048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566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300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Конфигурация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108960" y="356616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Порты, пути, SSL-сертификаты, лимиты соединений.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143000" y="4160520"/>
            <a:ext cx="384048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2976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108960" y="42976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Запуск, логи, доступность порта, базовые тесты.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Примеры команд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88620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81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Linux  ·  Ubuntu / Debian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20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apt upgrade -y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Nginx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nginx -y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nginx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nginx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MySQL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mysql-server -y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mysql_secure_installation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PHP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php php-fpm php-mysql -y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371600"/>
            <a:ext cx="3886200" cy="3520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481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Windows Server  ·  PowerShell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83480" y="1828800"/>
            <a:ext cx="35204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Установка IIS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Install-WindowsFeature -name Web-Server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-IncludeManagementTools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Управление службой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Get-Service -Name W3SVC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Start-Service W3SVC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Set-Service W3SVC -StartupType Auto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SQL Server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.\SQLServerExpress.exe /q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/ACTION=Install /FEATURES=SQL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Обслуживание и мониторинг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1298448"/>
            <a:ext cx="91440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1298448"/>
            <a:ext cx="9144000" cy="914400"/>
          </a:xfrm>
          <a:prstGeom prst="rect">
            <a:avLst/>
          </a:prstGeom>
          <a:solidFill>
            <a:srgbClr val="1C1C1E">
              <a:alpha val="50000"/>
            </a:srgbClr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8D4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Мониторинг в реальном времени — основа стабильной работы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377440"/>
            <a:ext cx="22860" cy="1261872"/>
          </a:xfrm>
          <a:prstGeom prst="rect">
            <a:avLst/>
          </a:prstGeom>
          <a:solidFill>
            <a:srgbClr val="8195A8"/>
          </a:solidFill>
          <a:ln w="12700">
            <a:solidFill>
              <a:srgbClr val="8195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Обновления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834640"/>
            <a:ext cx="36576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9260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патчи безопасности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 перед production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всех изменений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00600" y="237744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2377440"/>
            <a:ext cx="22860" cy="1261872"/>
          </a:xfrm>
          <a:prstGeom prst="rect">
            <a:avLst/>
          </a:prstGeom>
          <a:solidFill>
            <a:srgbClr val="7D9B8A"/>
          </a:solidFill>
          <a:ln w="12700">
            <a:solidFill>
              <a:srgbClr val="7D9B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8348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Мониторинг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983480" y="2834640"/>
            <a:ext cx="36576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292608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диск в реальном времени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 · Nagios · Prometheus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оповещений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79476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794760"/>
            <a:ext cx="22860" cy="1261872"/>
          </a:xfrm>
          <a:prstGeom prst="rect">
            <a:avLst/>
          </a:prstGeom>
          <a:solidFill>
            <a:srgbClr val="B8A898"/>
          </a:solidFill>
          <a:ln w="12700">
            <a:solidFill>
              <a:srgbClr val="B8A89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Резервное копирование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251960"/>
            <a:ext cx="36576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" y="43434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Ежедневно, минимум 2 копии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Локально + удалённое хранилище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восстановления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00600" y="3794760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00600" y="3794760"/>
            <a:ext cx="22860" cy="1261872"/>
          </a:xfrm>
          <a:prstGeom prst="rect">
            <a:avLst/>
          </a:prstGeom>
          <a:solidFill>
            <a:srgbClr val="9E9790"/>
          </a:solidFill>
          <a:ln w="12700">
            <a:solidFill>
              <a:srgbClr val="9E979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83480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Безопасность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983480" y="4251960"/>
            <a:ext cx="36576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83480" y="43434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Закрыть неиспользуемые порты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· Let's Encrypt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fail2ban · минимальные права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Инструменты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270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1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1792" y="1755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Zabbix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2148840"/>
            <a:ext cx="22860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6771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Универсальная open-source платформа мониторинга серверов и сетей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73552" y="13716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15270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38144" y="1755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Prometheus + Grafana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38144" y="2148840"/>
            <a:ext cx="22860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38144" y="226771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метрик временных рядов с наглядными дашбордами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1371600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15270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B8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54496" y="1755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Nagios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54496" y="2148840"/>
            <a:ext cx="22860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226771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хостов и сервисов с системой уведомлений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E97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" y="3566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Ansible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" y="3959352"/>
            <a:ext cx="22860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07822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Конфигурирование серверов через YAML-playbooks без агентов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73552" y="3182112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8144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81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КОНТЕЙНЕРИЗАЦИЯ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38144" y="3566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38144" y="3959352"/>
            <a:ext cx="22860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38144" y="407822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Изолированный запуск сервисов в контейнерах, упрощает обновления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9904" y="3182112"/>
            <a:ext cx="2606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7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54496" y="35661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Fail2ban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54496" y="3959352"/>
            <a:ext cx="22860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407822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Автоблокировка IP при попытках brute-force атак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Лучшие практики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804672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Документируйте всё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29000" y="1371600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Любое изменение фиксируется: что, когда, зачем. Wiki или Confluence — хороший выбор.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1883664"/>
            <a:ext cx="768096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933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Минимальные привилегии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1993392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сервис работает под отдельным пользователем с минимально необходимыми правами.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2505456"/>
            <a:ext cx="768096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1518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6151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Тестовая среда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615184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проверяются на staging до применения в production — без исключений.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3127248"/>
            <a:ext cx="768096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369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2369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Автоматизируйте рутину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236976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Ansible, cron, Bash-скрипты устраняют человеческий фактор в повторяемых задачах.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4400" y="3749040"/>
            <a:ext cx="768096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5876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85876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Аудит безопасности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3858768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Ежемесячная проверка: открытые порты, устаревшие пакеты, конфигурация.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" y="4370832"/>
            <a:ext cx="768096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805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4805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Планирование мощности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4480560"/>
            <a:ext cx="5349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87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Следите за трендами нагрузки и масштабируйте заранее — не в режиме аварии.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E">
              <a:alpha val="70000"/>
            </a:srgbClr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1371600"/>
            <a:ext cx="20117" cy="1417320"/>
          </a:xfrm>
          <a:prstGeom prst="rect">
            <a:avLst/>
          </a:prstGeom>
          <a:solidFill>
            <a:srgbClr val="7D9B8A"/>
          </a:solidFill>
          <a:ln w="12700">
            <a:solidFill>
              <a:srgbClr val="7D9B8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1325880"/>
            <a:ext cx="4572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49808" y="20574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E9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Серверное ПО — фундамент любой IT-инфраструктуры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E9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сервера выбирается под конкретную задачу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E9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Правильная установка: документация + безопасность + тестирование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E9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 — непрерывный процесс: обновления, мониторинг, бэкапы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9E9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и мониторинг обеспечивают стабильность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4663440"/>
            <a:ext cx="3200400" cy="10973"/>
          </a:xfrm>
          <a:prstGeom prst="rect">
            <a:avLst/>
          </a:prstGeom>
          <a:solidFill>
            <a:srgbClr val="D6D3CE"/>
          </a:solidFill>
          <a:ln w="12700">
            <a:solidFill>
              <a:srgbClr val="D6D3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Серверное ПО</dc:title>
  <dc:subject>PptxGenJS Presentation</dc:subject>
  <dc:creator>PptxGenJS</dc:creator>
  <cp:lastModifiedBy>PptxGenJS</cp:lastModifiedBy>
  <cp:revision>1</cp:revision>
  <dcterms:created xsi:type="dcterms:W3CDTF">2026-03-12T06:10:30Z</dcterms:created>
  <dcterms:modified xsi:type="dcterms:W3CDTF">2026-03-12T06:10:30Z</dcterms:modified>
</cp:coreProperties>
</file>